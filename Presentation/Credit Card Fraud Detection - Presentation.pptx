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 end-semester project. The project applies all five units of the syllabus to one real problem: detecting fraudulent credit card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fact drives every design decision in the project. Only 0.1667% of transactions are fraudulent.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284,807 transactions over two days in September 2013 from European cardholders. We removed 1,081 exact duplicates first — leaving them in would let the same transaction appear in both train and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reproducible. Re-running the notebooks reproduces every number in the report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unit is represented. The professor can point at any topic in the unitization plan and find it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 is a direct measure of model complexity, so the growing gap between the two curves is overfitting made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dataset's own V1-V28 are already PCA output, so applying PCA again mostly reorders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ID3's bias is a preference bias — a form of Occam's razor — rather than a restriction on what it can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curse of dimensionality confirmed on a real dataset, and a concrete argument for feature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Bayes optimal rule is correct, but it can only be applied to a model whose outputs are genuine posterior probabilities. That is a more useful conclusion than the derivation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circled points are the support vectors. Every other training point could be deleted without changing the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Minsky and Papert limitation from 1969 that halted neural network research for over a decade.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Boosting beat bagging here, consistent with the bias-variance analysis: the decision boundary is complex, so reducing bias helps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matters because a clustering method could in principle flag a new kind of fraud that has never been labelled.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twelve evaluated on the identical test set from the same stratified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core methodological message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F1 column hides this trade-off. Random Forest is the most precise; the perceptron catches the most frauds but at a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standard deviation column is as informative as the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one thing from this presentation, make it the accuracy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 contains all ten notebooks with outputs, 61 figures, the full results tables, and the project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3494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!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Credit Card Fraud Detection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ADCFC"/>
                </a:solidFill>
              </a:rPr>
              <a:t>using Machine Learning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2926080" cy="0"/>
          </a:xfrm>
          <a:prstGeom prst="line">
            <a:avLst/>
          </a:prstGeom>
          <a:noFill/>
          <a:ln w="38100">
            <a:solidFill>
              <a:srgbClr val="E349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5196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Lakshay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Roll No: AP24110010677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B.Tech Computer Science and Engineering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SRM University – AP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4892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Supervisor</a:t>
            </a:r>
            <a:endParaRPr lang="en-US" sz="1200" dirty="0"/>
          </a:p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Mr. Ajay Dilip Kumar Marapatla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The problem, in one number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</a:rPr>
              <a:t>99.8333%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is the accuracy of a classifier that predicts "legitimate" for every single transaction.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4937760" cy="1371600"/>
          </a:xfrm>
          <a:prstGeom prst="roundRect">
            <a:avLst>
              <a:gd name="adj" fmla="val 9333"/>
            </a:avLst>
          </a:prstGeom>
          <a:solidFill>
            <a:srgbClr val="2A35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41605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Frauds it detects
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 of 473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4023360"/>
            <a:ext cx="5303520" cy="1371600"/>
          </a:xfrm>
          <a:prstGeom prst="roundRect">
            <a:avLst>
              <a:gd name="adj" fmla="val 9333"/>
            </a:avLst>
          </a:prstGeom>
          <a:solidFill>
            <a:srgbClr val="E3494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4160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3E3"/>
                </a:solidFill>
              </a:rPr>
              <a:t>Conclusion
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Accuracy cannot be used here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Every model in this project is judged on recall, precision, F1-score and PR-AUC instead.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The dataset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ULB / Kaggle Credit Card Fraud Detection benchmark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5212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After cleaning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Transactions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284,807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283,726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Fraudulent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492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Fraud 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0.1727%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0.1667%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Duplicate rows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1,081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Missing values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Attributes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 + label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 + label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Time span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~48 hours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~48 hours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22960" y="4892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8"/>
                </a:solidFill>
              </a:rPr>
              <a:t>V1–V28 are principal components.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The publishers applied PCA to the original attributes to protect cardholder confidentiality. Only Time, Amount and Class are untransformed — so the benchmark itself is the output of a Unit II technique.</a:t>
            </a:r>
            <a:endParaRPr lang="en-US" sz="1200" dirty="0"/>
          </a:p>
        </p:txBody>
      </p:sp>
      <p:pic>
        <p:nvPicPr>
          <p:cNvPr id="10" name="Image 0" descr="figures/01_class_distribution.png">    </p:cNvPr>
          <p:cNvPicPr>
            <a:picLocks noChangeAspect="1"/>
          </p:cNvPicPr>
          <p:nvPr/>
        </p:nvPicPr>
        <p:blipFill>
          <a:blip r:embed="rId1"/>
          <a:srcRect l="0" r="0" t="-14706" b="-14706"/>
          <a:stretch/>
        </p:blipFill>
        <p:spPr>
          <a:xfrm>
            <a:off x="6126480" y="1920240"/>
            <a:ext cx="53949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Experimental protocol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One split, used identically by every model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Duplicates removed BEFORE splitting — a duplicate across train and test means testing on a memorised record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One stratified 70 / 30 split, preserving the 0.1667% fraud rate in both parts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Scaling performed inside pipelines, so no test statistic ever leaks into training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Any resampling confined to cross-validation folds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5-fold stratified cross validation for model selection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92024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Random seed
</a:t>
            </a:r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77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0574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the last two digits of roll number AP241100106​77, as required — applied to the split, every model and every subsample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977640"/>
          <a:ext cx="5029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Transactions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Frauds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Fraud 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Training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198,608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0.1667%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85,118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0.1668%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All units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Syllabus coverage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35 topics from all five units, applied to one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777240" cy="822960"/>
          </a:xfrm>
          <a:prstGeom prst="roundRect">
            <a:avLst>
              <a:gd name="adj" fmla="val 16471"/>
            </a:avLst>
          </a:prstGeom>
          <a:solidFill>
            <a:srgbClr val="2A35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691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B"/>
                </a:solidFill>
              </a:rPr>
              <a:t>Types of learning · train/test/validation · cross validation · overfitting and underfitting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8"/>
                </a:solidFill>
              </a:rPr>
              <a:t>01, 03, 10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606040"/>
            <a:ext cx="777240" cy="822960"/>
          </a:xfrm>
          <a:prstGeom prst="roundRect">
            <a:avLst>
              <a:gd name="adj" fmla="val 1647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6060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606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B"/>
                </a:solidFill>
              </a:rPr>
              <a:t>Decision tree &amp; ID3 · k-NN · curse of dimensionality · feature selection · PCA · LDA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8"/>
                </a:solidFill>
              </a:rPr>
              <a:t>02, 03, 04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520440"/>
            <a:ext cx="777240" cy="822960"/>
          </a:xfrm>
          <a:prstGeom prst="roundRect">
            <a:avLst>
              <a:gd name="adj" fmla="val 16471"/>
            </a:avLst>
          </a:prstGeom>
          <a:solidFill>
            <a:srgbClr val="2A357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5204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III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B"/>
                </a:solidFill>
              </a:rPr>
              <a:t>Bayesian learning · Naive Bayes · Bayes optimal decisions · SVM dual &amp; kernels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3520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8"/>
                </a:solidFill>
              </a:rPr>
              <a:t>05, 06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777240" cy="822960"/>
          </a:xfrm>
          <a:prstGeom prst="roundRect">
            <a:avLst>
              <a:gd name="adj" fmla="val 1647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4348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IV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B"/>
                </a:solidFill>
              </a:rPr>
              <a:t>McCulloch-Pitts · perceptron &amp; logic gates · XOR · gradient descent · backpropagation · VC dimension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4434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8"/>
                </a:solidFill>
              </a:rPr>
              <a:t>07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349240"/>
            <a:ext cx="777240" cy="822960"/>
          </a:xfrm>
          <a:prstGeom prst="roundRect">
            <a:avLst>
              <a:gd name="adj" fmla="val 16471"/>
            </a:avLst>
          </a:prstGeom>
          <a:solidFill>
            <a:srgbClr val="2A357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349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5349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B"/>
                </a:solidFill>
              </a:rPr>
              <a:t>Bagging · Random Forest · boosting · fixed &amp; trained rule fusion · K-means · hierarchical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5349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8"/>
                </a:solidFill>
              </a:rPr>
              <a:t>08, 09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Overfitting and underfitting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Demonstrated on a decision tree of increasing depth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83080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Small depth — both curves low: the model is too simple and underfits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Large depth — training F1 climbs towards 1.0 while test F1 declines: the tree is memorising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Best test performance at moderate depth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This is why the tree used later is pruned by cross validation rather than grown without limit</a:t>
            </a:r>
            <a:endParaRPr lang="en-US" sz="1500" dirty="0"/>
          </a:p>
        </p:txBody>
      </p:sp>
      <p:pic>
        <p:nvPicPr>
          <p:cNvPr id="9" name="Image 0" descr="figures/01_overfitting_underfitting.png">    </p:cNvPr>
          <p:cNvPicPr>
            <a:picLocks noChangeAspect="1"/>
          </p:cNvPicPr>
          <p:nvPr/>
        </p:nvPicPr>
        <p:blipFill>
          <a:blip r:embed="rId1"/>
          <a:srcRect l="0" r="0" t="-2381" b="-2381"/>
          <a:stretch/>
        </p:blipFill>
        <p:spPr>
          <a:xfrm>
            <a:off x="6126480" y="1737360"/>
            <a:ext cx="53949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PCA and LDA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Two reduction techniques with opposite objectives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PCA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4182B"/>
                </a:solidFill>
              </a:rPr>
              <a:t>Unsupervised. Maximises variance. Never looks at the class label.
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LDA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4182B"/>
                </a:solidFill>
              </a:rPr>
              <a:t>Supervised. Maximises separation between class means while minimising scatter within each class.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3474720" cy="1554480"/>
          </a:xfrm>
          <a:prstGeom prst="roundRect">
            <a:avLst>
              <a:gd name="adj" fmla="val 8235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434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B"/>
                </a:solidFill>
              </a:rPr>
              <a:t>Two PCA components leave the classes overlapped. One LDA component separates them cleanly — exactly what the two objectives predict.</a:t>
            </a:r>
            <a:endParaRPr lang="en-US" sz="1200" dirty="0"/>
          </a:p>
        </p:txBody>
      </p:sp>
      <p:pic>
        <p:nvPicPr>
          <p:cNvPr id="11" name="Image 0" descr="figures/02_pca_proj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691640"/>
            <a:ext cx="3566160" cy="2926080"/>
          </a:xfrm>
          <a:prstGeom prst="rect">
            <a:avLst/>
          </a:prstGeom>
        </p:spPr>
      </p:pic>
      <p:pic>
        <p:nvPicPr>
          <p:cNvPr id="12" name="Image 1" descr="figures/02_lda_projec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4617720"/>
            <a:ext cx="68580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Decision tree learning (ID3)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Entropy and information gain computed by hand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5120640" cy="1143000"/>
          </a:xfrm>
          <a:prstGeom prst="roundRect">
            <a:avLst>
              <a:gd name="adj" fmla="val 11200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17830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Entropy(S) = − Σ pᵢ log₂ pᵢ        Gain(S,A) = Entropy(S) − Σ (|Sᵥ|/|S|) Entropy(Sᵥ)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175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Root entropy is only 0.0192 bits — the set is already almost pure, a direct consequence of the imbalance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The hand calculation reproduces the attribute the library selects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Hypothesis space is complete, so the inductive bias is a preference for shorter trees, not a restriction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Pruning depth chosen by cross validation</a:t>
            </a:r>
            <a:endParaRPr lang="en-US" sz="1500" dirty="0"/>
          </a:p>
        </p:txBody>
      </p:sp>
      <p:pic>
        <p:nvPicPr>
          <p:cNvPr id="11" name="Image 0" descr="figures/03_information_gain.png">    </p:cNvPr>
          <p:cNvPicPr>
            <a:picLocks noChangeAspect="1"/>
          </p:cNvPicPr>
          <p:nvPr/>
        </p:nvPicPr>
        <p:blipFill>
          <a:blip r:embed="rId1"/>
          <a:srcRect l="0" r="0" t="-1163" b="-1163"/>
          <a:stretch/>
        </p:blipFill>
        <p:spPr>
          <a:xfrm>
            <a:off x="6126480" y="1737360"/>
            <a:ext cx="53949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k-NN and the curse of dimensionality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A prediction from theory, tested on the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83080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k-NN is a lazy, instance-based learner — it stores the data and approximates the target function locally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Euclidean distance worked step by step by hand, matching scikit-learn exactly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As dimensions grow, nearest and farthest neighbours become similarly distant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Measured result: performance PEAKS at a modest number of attributes, then declines — even though the extra attributes carry real information</a:t>
            </a:r>
            <a:endParaRPr lang="en-US" sz="1500" dirty="0"/>
          </a:p>
        </p:txBody>
      </p:sp>
      <p:pic>
        <p:nvPicPr>
          <p:cNvPr id="9" name="Image 0" descr="figures/04_dimensionality_effect.png">    </p:cNvPr>
          <p:cNvPicPr>
            <a:picLocks noChangeAspect="1"/>
          </p:cNvPicPr>
          <p:nvPr/>
        </p:nvPicPr>
        <p:blipFill>
          <a:blip r:embed="rId1"/>
          <a:srcRect l="0" r="0" t="-5000" b="-5000"/>
          <a:stretch/>
        </p:blipFill>
        <p:spPr>
          <a:xfrm>
            <a:off x="6126480" y="1828800"/>
            <a:ext cx="53949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III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Bayes optimal decisions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The optimal threshold is not 0.5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B"/>
                </a:solidFill>
              </a:rPr>
              <a:t>E[loss | flag] = (1−p)·C_FP        E[loss | allow] = p·C_FN
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Flag when the first is smaller, which rearranges to
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τ*  =  C_FP / (C_FP + C_FN)  =  1/51  ≈  0.0196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5212080" cy="210312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8862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The finding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4182B"/>
                </a:solidFill>
              </a:rPr>
              <a:t>The derived threshold did not match the empirical optimum. The cause: the derivation assumes p is a genuine probability, and Naive Bayes posteriors saturate at 0 and 1. Isotonic calibration fixed it.</a:t>
            </a:r>
            <a:endParaRPr lang="en-US" sz="1400" dirty="0"/>
          </a:p>
        </p:txBody>
      </p:sp>
      <p:pic>
        <p:nvPicPr>
          <p:cNvPr id="11" name="Image 0" descr="figures/05_calibration_effect.png">    </p:cNvPr>
          <p:cNvPicPr>
            <a:picLocks noChangeAspect="1"/>
          </p:cNvPicPr>
          <p:nvPr/>
        </p:nvPicPr>
        <p:blipFill>
          <a:blip r:embed="rId1"/>
          <a:srcRect l="0" r="0" t="-2381" b="-2381"/>
          <a:stretch/>
        </p:blipFill>
        <p:spPr>
          <a:xfrm>
            <a:off x="6126480" y="1828800"/>
            <a:ext cx="53949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III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Support Vector Machine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Maximum margin, the dual formulation, and kernels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8308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The dual expresses the problem purely in terms of inner products between training points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That is what makes the kernel trick possible — a nonlinear boundary without computing the mapping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Soft margin parameter C trades margin width against training errors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RBF outperformed linear and polynomial kernels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2B"/>
                </a:solidFill>
              </a:rPr>
              <a:t>Only the support vectors determine the boundary — the solution is sparse</a:t>
            </a:r>
            <a:endParaRPr lang="en-US" sz="1500" dirty="0"/>
          </a:p>
        </p:txBody>
      </p:sp>
      <p:pic>
        <p:nvPicPr>
          <p:cNvPr id="9" name="Image 0" descr="figures/06_margin_and_support_vecto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2011680"/>
            <a:ext cx="62179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IV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Perceptron — and the XOR problem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A theoretical result confirmed experimentally</a:t>
            </a:r>
            <a:endParaRPr lang="en-US" sz="1400" dirty="0"/>
          </a:p>
        </p:txBody>
      </p:sp>
      <p:pic>
        <p:nvPicPr>
          <p:cNvPr id="8" name="Image 0" descr="figures/07_perceptron_logic_g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10515600" cy="2286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Learns AND, OR, NAND, NOR in a few epochs — each is linearly separable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526280"/>
            <a:ext cx="10515600" cy="1371600"/>
          </a:xfrm>
          <a:prstGeom prst="roundRect">
            <a:avLst>
              <a:gd name="adj" fmla="val 9333"/>
            </a:avLst>
          </a:prstGeom>
          <a:solidFill>
            <a:srgbClr val="E3494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46634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Then it fails on XOR. </a:t>
            </a:r>
            <a:pPr indent="0" marL="0">
              <a:buNone/>
            </a:pPr>
            <a:r>
              <a:rPr lang="en-US" sz="1400" dirty="0">
                <a:solidFill>
                  <a:srgbClr val="FFE8E8"/>
                </a:solidFill>
              </a:rPr>
              <a:t>The error count never reaches zero, because no single hyperplane can separate the classes. A hidden layer trained by backpropagation solves it — which is exactly the history of the field.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V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Ensembles and rule fusion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Bagging, boosting, and combining different model types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Attacks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Bagging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Parallel, on bootstrap samples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Variance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Bagging + attribute subsampling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Variance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Boosting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Sequential, each fixes the last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Bias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Fixed rule fusion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Majority / mean / product / max / min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Trained rule fusion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Stacking with a meta-learner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2960" y="4480560"/>
            <a:ext cx="5303520" cy="1371600"/>
          </a:xfrm>
          <a:prstGeom prst="roundRect">
            <a:avLst>
              <a:gd name="adj" fmla="val 9333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4617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B"/>
                </a:solidFill>
              </a:rPr>
              <a:t>Fixed rule fusion beat trained rule fusion (0.809 vs 0.760) — with only 331 fraud examples, the stacking meta-learner has too little signal to justify its extra flexibility.</a:t>
            </a:r>
            <a:endParaRPr lang="en-US" sz="1200" dirty="0"/>
          </a:p>
        </p:txBody>
      </p:sp>
      <p:pic>
        <p:nvPicPr>
          <p:cNvPr id="11" name="Image 0" descr="figures/08_fusion_comparison.png">    </p:cNvPr>
          <p:cNvPicPr>
            <a:picLocks noChangeAspect="1"/>
          </p:cNvPicPr>
          <p:nvPr/>
        </p:nvPicPr>
        <p:blipFill>
          <a:blip r:embed="rId1"/>
          <a:srcRect l="0" r="0" t="-2381" b="-2381"/>
          <a:stretch/>
        </p:blipFill>
        <p:spPr>
          <a:xfrm>
            <a:off x="6126480" y="1828800"/>
            <a:ext cx="53949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V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Clustering — learning without labels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K-means and hierarchical clustering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82B"/>
                </a:solidFill>
              </a:rPr>
              <a:t>The only unsupervised method in the project — labels withheld entirely during clustering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82B"/>
                </a:solidFill>
              </a:rPr>
              <a:t>k chosen by the elbow method and silhouette score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82B"/>
                </a:solidFill>
              </a:rPr>
              <a:t>Revealed afterwards: the clusters have strongly unequal fraud rates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82B"/>
                </a:solidFill>
              </a:rPr>
              <a:t>K-means recovered part of the fraud structure having never seen a label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82B"/>
                </a:solidFill>
              </a:rPr>
              <a:t>Distance to the nearest centroid works as an anomaly score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82B"/>
                </a:solidFill>
              </a:rPr>
              <a:t>Hierarchical clustering is O(n²) in memory, so it needed a 2,000-row sample</a:t>
            </a:r>
            <a:endParaRPr lang="en-US" sz="1400" dirty="0"/>
          </a:p>
        </p:txBody>
      </p:sp>
      <p:pic>
        <p:nvPicPr>
          <p:cNvPr id="9" name="Image 0" descr="figures/09_cluster_composition.png">    </p:cNvPr>
          <p:cNvPicPr>
            <a:picLocks noChangeAspect="1"/>
          </p:cNvPicPr>
          <p:nvPr/>
        </p:nvPicPr>
        <p:blipFill>
          <a:blip r:embed="rId1"/>
          <a:srcRect l="0" r="0" t="-11111" b="-11111"/>
          <a:stretch/>
        </p:blipFill>
        <p:spPr>
          <a:xfrm>
            <a:off x="6126480" y="2011680"/>
            <a:ext cx="53949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Results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Results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Twelve models, one test set: 85,118 transactions, 142 frauds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22960"/>
                <a:gridCol w="1645920"/>
                <a:gridCol w="1463040"/>
                <a:gridCol w="1463040"/>
                <a:gridCol w="201168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XGBoost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0.9508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0.8169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0.8788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0.8774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AdaBoost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0.9231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0.7606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0.8340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0.8289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0.9717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0.7254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0.8306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0.8659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0.8672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0.7817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0.8222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0.8075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Neural Network (MLP)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0.9204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0.7324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0.8157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0.8498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Voting — fixed fusion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0.8833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0.7465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0.8092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k-Nearest Neighbour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0.8438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0.7606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0.7897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Support Vector Machine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III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0.8333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0.7394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0.7836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0.7841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Stacking — trained fusion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0.9474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0.6338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0.7595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0.8375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0.6761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0.8380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0.7484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Naive Bayes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III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0.1128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0.7746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0.1970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0.1828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K-Means (unsupervised)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0.1045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0.6268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0.1791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0.1572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Look at what accuracy says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19456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</a:rPr>
                        <a:t>Accuracy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</a:rPr>
                        <a:t>Frauds caught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"Always legitimate"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99.8333%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0.0000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0 of 142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Stacking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99.9295%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0.6338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90 of 142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XGBoost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99.9624%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0.8169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116 of 142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2960" y="4206240"/>
            <a:ext cx="10515600" cy="1554480"/>
          </a:xfrm>
          <a:prstGeom prst="roundRect">
            <a:avLst>
              <a:gd name="adj" fmla="val 9412"/>
            </a:avLst>
          </a:prstGeom>
          <a:solidFill>
            <a:srgbClr val="E3494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188720" y="434340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0.13 percentage points</a:t>
            </a:r>
            <a:endParaRPr lang="en-US" sz="2600" dirty="0"/>
          </a:p>
          <a:p>
            <a:pPr indent="0" marL="0">
              <a:buNone/>
            </a:pPr>
            <a:r>
              <a:rPr lang="en-US" sz="1500" dirty="0">
                <a:solidFill>
                  <a:srgbClr val="FFE8E8"/>
                </a:solidFill>
              </a:rPr>
              <a:t>separate a model that catches nothing from the best model in the study. That is the whole argument for not using accuracy.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Results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Errors in absolute terms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Percentages hide what the numbers mean operationally</a:t>
            </a:r>
            <a:endParaRPr lang="en-US" sz="1400" dirty="0"/>
          </a:p>
        </p:txBody>
      </p:sp>
      <p:pic>
        <p:nvPicPr>
          <p:cNvPr id="8" name="Image 0" descr="figures/10_frauds_cau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45920"/>
            <a:ext cx="6949440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1828800"/>
            <a:ext cx="3291840" cy="1234440"/>
          </a:xfrm>
          <a:prstGeom prst="roundRect">
            <a:avLst>
              <a:gd name="adj" fmla="val 1037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9202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XGBoost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116 caught · 6 false alarms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3200400"/>
            <a:ext cx="3291840" cy="1234440"/>
          </a:xfrm>
          <a:prstGeom prst="roundRect">
            <a:avLst>
              <a:gd name="adj" fmla="val 10370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75320" y="32918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Random Forest
</a:t>
            </a:r>
            <a:pPr indent="0" marL="0">
              <a:buNone/>
            </a:pPr>
            <a:r>
              <a:rPr lang="en-US" sz="1500" b="1" dirty="0">
                <a:solidFill>
                  <a:srgbClr val="14182B"/>
                </a:solidFill>
              </a:rPr>
              <a:t>103 caught · only 3 false alarms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4572000"/>
            <a:ext cx="3291840" cy="1234440"/>
          </a:xfrm>
          <a:prstGeom prst="roundRect">
            <a:avLst>
              <a:gd name="adj" fmla="val 10370"/>
            </a:avLst>
          </a:prstGeom>
          <a:solidFill>
            <a:srgbClr val="F4F6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5320" y="4663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Perceptron
</a:t>
            </a:r>
            <a:pPr indent="0" marL="0">
              <a:buNone/>
            </a:pPr>
            <a:r>
              <a:rPr lang="en-US" sz="1500" b="1" dirty="0">
                <a:solidFill>
                  <a:srgbClr val="14182B"/>
                </a:solidFill>
              </a:rPr>
              <a:t>119 caught · but 57 false alarms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29800" y="502920"/>
            <a:ext cx="1783080" cy="420624"/>
          </a:xfrm>
          <a:prstGeom prst="roundRect">
            <a:avLst>
              <a:gd name="adj" fmla="val 478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0" y="5029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Unit 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B"/>
                </a:solidFill>
              </a:rPr>
              <a:t>Is the ranking real?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</a:rPr>
              <a:t>5-fold stratified cross validation on the training data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00584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F1 (mean)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Train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0.8319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0.0127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59.0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0.8293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0.0304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0.8011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0.0409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22.3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0.5843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0.2941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1.5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Naive Bayes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0.2381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0.0167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0" y="1737360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182B"/>
                </a:solidFill>
              </a:rPr>
              <a:t>The cross-validated ranking agrees with the held-out ranking — the result is a property of the models, not of one lucky split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182B"/>
                </a:solidFill>
              </a:rPr>
              <a:t>Random Forest's std dev of 0.0127 is exactly the variance reduction bagging is designed to deliver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182B"/>
                </a:solidFill>
              </a:rPr>
              <a:t>The perceptron's 0.2941 reflects its instability on a non-separable problem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182B"/>
                </a:solidFill>
              </a:rPr>
              <a:t>XGBoost matches Random Forest in one sixth of the training time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234440"/>
          </a:xfrm>
          <a:prstGeom prst="roundRect">
            <a:avLst>
              <a:gd name="adj" fmla="val 11852"/>
            </a:avLst>
          </a:prstGeom>
          <a:solidFill>
            <a:srgbClr val="2A357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6002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XGBoost performed best  —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precision 0.9508, recall 0.8169, F1 0.8788. It detects 116 of 142 frauds while raising only 6 false alarms.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Four theoretical results confirmed experimentally
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perceptron convergence theorem — converged on four separable gates, failed on XOR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curse of dimensionality — k-NN performance declined as attributes were added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Bayes optimal decision rule — applicable only after calibrating the posteriors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Variance reduction by bagging — visible in Random Forest's low CV standard deviation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14000"/>
            </a:avLst>
          </a:prstGeom>
          <a:solidFill>
            <a:srgbClr val="E3494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53035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Accuracy is unusable at this class imbalance. Model selection must be based on recall, precision, F1 and PR-AUC.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868680" y="3383280"/>
            <a:ext cx="2926080" cy="0"/>
          </a:xfrm>
          <a:prstGeom prst="line">
            <a:avLst/>
          </a:prstGeom>
          <a:noFill/>
          <a:ln w="38100">
            <a:solidFill>
              <a:srgbClr val="E349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Lakshay · AP24110010677 · B.Tech CSE · SRM University – AP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github.com/lakshay8toic/Credit-Card-Fraud-Detection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Machine Learning</dc:title>
  <dc:subject>PptxGenJS Presentation</dc:subject>
  <dc:creator>Lakshay (AP24110010677)</dc:creator>
  <cp:lastModifiedBy>Lakshay (AP24110010677)</cp:lastModifiedBy>
  <cp:revision>1</cp:revision>
  <dcterms:created xsi:type="dcterms:W3CDTF">2026-09-19T12:50:18Z</dcterms:created>
  <dcterms:modified xsi:type="dcterms:W3CDTF">2026-09-19T12:50:18Z</dcterms:modified>
</cp:coreProperties>
</file>